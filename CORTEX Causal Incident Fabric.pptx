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aret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34420" y="1252720"/>
            <a:ext cx="7369247" cy="7193126"/>
          </a:xfrm>
          <a:custGeom>
            <a:avLst/>
            <a:gdLst/>
            <a:ahLst/>
            <a:cxnLst/>
            <a:rect r="r" b="b" t="t" l="l"/>
            <a:pathLst>
              <a:path h="7193126" w="7369247">
                <a:moveTo>
                  <a:pt x="0" y="0"/>
                </a:moveTo>
                <a:lnTo>
                  <a:pt x="7369246" y="0"/>
                </a:lnTo>
                <a:lnTo>
                  <a:pt x="7369246" y="7193126"/>
                </a:lnTo>
                <a:lnTo>
                  <a:pt x="0" y="7193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18959" y="2934672"/>
            <a:ext cx="3860793" cy="4260185"/>
          </a:xfrm>
          <a:custGeom>
            <a:avLst/>
            <a:gdLst/>
            <a:ahLst/>
            <a:cxnLst/>
            <a:rect r="r" b="b" t="t" l="l"/>
            <a:pathLst>
              <a:path h="4260185" w="3860793">
                <a:moveTo>
                  <a:pt x="0" y="0"/>
                </a:moveTo>
                <a:lnTo>
                  <a:pt x="3860793" y="0"/>
                </a:lnTo>
                <a:lnTo>
                  <a:pt x="3860793" y="4260185"/>
                </a:lnTo>
                <a:lnTo>
                  <a:pt x="0" y="4260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24281" y="6224373"/>
            <a:ext cx="2951345" cy="774767"/>
            <a:chOff x="0" y="0"/>
            <a:chExt cx="1548112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4713959"/>
            <a:ext cx="10977253" cy="56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8"/>
              </a:lnSpc>
            </a:pPr>
            <a:r>
              <a:rPr lang="en-US" sz="33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Causal Incident Fabric for Intelligent Alert Filtering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272000"/>
            <a:ext cx="10845962" cy="148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166"/>
              </a:lnSpc>
            </a:pPr>
            <a:r>
              <a:rPr lang="en-US" b="true" sz="869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CORTEX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5865" y="759460"/>
            <a:ext cx="4627010" cy="97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</a:pPr>
            <a:r>
              <a:rPr lang="en-US" sz="27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AIOps · Observability · Real-Time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89060"/>
            <a:ext cx="10977253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</a:pPr>
            <a:r>
              <a:rPr lang="en-US" sz="27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Transform 500 Alerts → 3 Incidents → 1 Root Cause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76232" y="6398830"/>
            <a:ext cx="2847443" cy="38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1"/>
              </a:lnSpc>
            </a:pPr>
            <a:r>
              <a:rPr lang="en-US" b="true" sz="227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EXPLORE CORTEX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59906" y="815773"/>
            <a:ext cx="2847443" cy="38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1"/>
              </a:lnSpc>
            </a:pPr>
            <a:r>
              <a:rPr lang="en-US" b="true" sz="227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19010" y="4495054"/>
            <a:ext cx="11249980" cy="3666147"/>
            <a:chOff x="0" y="0"/>
            <a:chExt cx="2657241" cy="865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7241" cy="865943"/>
            </a:xfrm>
            <a:custGeom>
              <a:avLst/>
              <a:gdLst/>
              <a:ahLst/>
              <a:cxnLst/>
              <a:rect r="r" b="b" t="t" l="l"/>
              <a:pathLst>
                <a:path h="865943" w="2657241">
                  <a:moveTo>
                    <a:pt x="13441" y="0"/>
                  </a:moveTo>
                  <a:lnTo>
                    <a:pt x="2643800" y="0"/>
                  </a:lnTo>
                  <a:cubicBezTo>
                    <a:pt x="2647365" y="0"/>
                    <a:pt x="2650784" y="1416"/>
                    <a:pt x="2653305" y="3937"/>
                  </a:cubicBezTo>
                  <a:cubicBezTo>
                    <a:pt x="2655825" y="6457"/>
                    <a:pt x="2657241" y="9876"/>
                    <a:pt x="2657241" y="13441"/>
                  </a:cubicBezTo>
                  <a:lnTo>
                    <a:pt x="2657241" y="852502"/>
                  </a:lnTo>
                  <a:cubicBezTo>
                    <a:pt x="2657241" y="856067"/>
                    <a:pt x="2655825" y="859485"/>
                    <a:pt x="2653305" y="862006"/>
                  </a:cubicBezTo>
                  <a:cubicBezTo>
                    <a:pt x="2650784" y="864527"/>
                    <a:pt x="2647365" y="865943"/>
                    <a:pt x="2643800" y="865943"/>
                  </a:cubicBezTo>
                  <a:lnTo>
                    <a:pt x="13441" y="865943"/>
                  </a:lnTo>
                  <a:cubicBezTo>
                    <a:pt x="9876" y="865943"/>
                    <a:pt x="6457" y="864527"/>
                    <a:pt x="3937" y="862006"/>
                  </a:cubicBezTo>
                  <a:cubicBezTo>
                    <a:pt x="1416" y="859485"/>
                    <a:pt x="0" y="856067"/>
                    <a:pt x="0" y="852502"/>
                  </a:cubicBezTo>
                  <a:lnTo>
                    <a:pt x="0" y="13441"/>
                  </a:lnTo>
                  <a:cubicBezTo>
                    <a:pt x="0" y="9876"/>
                    <a:pt x="1416" y="6457"/>
                    <a:pt x="3937" y="3937"/>
                  </a:cubicBezTo>
                  <a:cubicBezTo>
                    <a:pt x="6457" y="1416"/>
                    <a:pt x="9876" y="0"/>
                    <a:pt x="134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7241" cy="90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3416" y="847552"/>
            <a:ext cx="4627010" cy="3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</a:pPr>
            <a:r>
              <a:rPr lang="en-US" sz="20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Thynk Unlimited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008110"/>
            <a:ext cx="10977253" cy="3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4"/>
              </a:lnSpc>
            </a:pPr>
            <a:r>
              <a:rPr lang="en-US" sz="206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hello@reallygreatsite.com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5385" y="4919706"/>
            <a:ext cx="9997230" cy="257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🚨  500+ alerts fire every hour — only 1 real problem exists</a:t>
            </a:r>
          </a:p>
          <a:p>
            <a:pPr algn="just" marL="0" indent="0" lvl="0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⏱  Engineers spend 3–4 hrs chasing symptoms, not root causes</a:t>
            </a:r>
          </a:p>
          <a:p>
            <a:pPr algn="just" marL="0" indent="0" lvl="0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🔇  Critical failures get buried in notification noise</a:t>
            </a:r>
          </a:p>
          <a:p>
            <a:pPr algn="just" marL="0" indent="0" lvl="0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📉  Mean Time to Resolve (MTTR) skyrockets under alert storms</a:t>
            </a:r>
          </a:p>
          <a:p>
            <a:pPr algn="just" marL="0" indent="0" lvl="0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💸  Every delayed response = downtime cost + engineer burnout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7352" y="1174115"/>
            <a:ext cx="6839713" cy="204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20"/>
              </a:lnSpc>
            </a:pPr>
            <a:r>
              <a:rPr lang="en-US" b="true" sz="58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Problem:</a:t>
            </a:r>
          </a:p>
          <a:p>
            <a:pPr algn="l" marL="0" indent="0" lvl="0">
              <a:lnSpc>
                <a:spcPts val="8220"/>
              </a:lnSpc>
            </a:pPr>
            <a:r>
              <a:rPr lang="en-US" b="true" sz="587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Alert Fatigue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698053" y="1061928"/>
            <a:ext cx="2981829" cy="3254383"/>
          </a:xfrm>
          <a:custGeom>
            <a:avLst/>
            <a:gdLst/>
            <a:ahLst/>
            <a:cxnLst/>
            <a:rect r="r" b="b" t="t" l="l"/>
            <a:pathLst>
              <a:path h="3254383" w="2981829">
                <a:moveTo>
                  <a:pt x="0" y="0"/>
                </a:moveTo>
                <a:lnTo>
                  <a:pt x="2981829" y="0"/>
                </a:lnTo>
                <a:lnTo>
                  <a:pt x="2981829" y="3254384"/>
                </a:lnTo>
                <a:lnTo>
                  <a:pt x="0" y="32543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4303725" y="2193501"/>
            <a:ext cx="5757341" cy="1863939"/>
          </a:xfrm>
          <a:custGeom>
            <a:avLst/>
            <a:gdLst/>
            <a:ahLst/>
            <a:cxnLst/>
            <a:rect r="r" b="b" t="t" l="l"/>
            <a:pathLst>
              <a:path h="1863939" w="5757341">
                <a:moveTo>
                  <a:pt x="0" y="0"/>
                </a:moveTo>
                <a:lnTo>
                  <a:pt x="5757341" y="0"/>
                </a:lnTo>
                <a:lnTo>
                  <a:pt x="5757341" y="1863939"/>
                </a:lnTo>
                <a:lnTo>
                  <a:pt x="0" y="1863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304684" y="4035405"/>
            <a:ext cx="9954616" cy="4125796"/>
            <a:chOff x="0" y="0"/>
            <a:chExt cx="2351277" cy="9745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1277" cy="974512"/>
            </a:xfrm>
            <a:custGeom>
              <a:avLst/>
              <a:gdLst/>
              <a:ahLst/>
              <a:cxnLst/>
              <a:rect r="r" b="b" t="t" l="l"/>
              <a:pathLst>
                <a:path h="974512" w="2351277">
                  <a:moveTo>
                    <a:pt x="15190" y="0"/>
                  </a:moveTo>
                  <a:lnTo>
                    <a:pt x="2336087" y="0"/>
                  </a:lnTo>
                  <a:cubicBezTo>
                    <a:pt x="2340115" y="0"/>
                    <a:pt x="2343979" y="1600"/>
                    <a:pt x="2346828" y="4449"/>
                  </a:cubicBezTo>
                  <a:cubicBezTo>
                    <a:pt x="2349677" y="7298"/>
                    <a:pt x="2351277" y="11161"/>
                    <a:pt x="2351277" y="15190"/>
                  </a:cubicBezTo>
                  <a:lnTo>
                    <a:pt x="2351277" y="959322"/>
                  </a:lnTo>
                  <a:cubicBezTo>
                    <a:pt x="2351277" y="963350"/>
                    <a:pt x="2349677" y="967214"/>
                    <a:pt x="2346828" y="970063"/>
                  </a:cubicBezTo>
                  <a:cubicBezTo>
                    <a:pt x="2343979" y="972911"/>
                    <a:pt x="2340115" y="974512"/>
                    <a:pt x="2336087" y="974512"/>
                  </a:cubicBezTo>
                  <a:lnTo>
                    <a:pt x="15190" y="974512"/>
                  </a:lnTo>
                  <a:cubicBezTo>
                    <a:pt x="11161" y="974512"/>
                    <a:pt x="7298" y="972911"/>
                    <a:pt x="4449" y="970063"/>
                  </a:cubicBezTo>
                  <a:cubicBezTo>
                    <a:pt x="1600" y="967214"/>
                    <a:pt x="0" y="963350"/>
                    <a:pt x="0" y="959322"/>
                  </a:cubicBezTo>
                  <a:lnTo>
                    <a:pt x="0" y="15190"/>
                  </a:lnTo>
                  <a:cubicBezTo>
                    <a:pt x="0" y="11161"/>
                    <a:pt x="1600" y="7298"/>
                    <a:pt x="4449" y="4449"/>
                  </a:cubicBezTo>
                  <a:cubicBezTo>
                    <a:pt x="7298" y="1600"/>
                    <a:pt x="11161" y="0"/>
                    <a:pt x="151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51277" cy="1012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3416" y="847552"/>
            <a:ext cx="4627010" cy="31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8"/>
              </a:lnSpc>
            </a:pPr>
            <a:r>
              <a:rPr lang="en-US" sz="18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 — AIOps Incident Fabric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08110"/>
            <a:ext cx="10977253" cy="31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8"/>
              </a:lnSpc>
            </a:pPr>
            <a:r>
              <a:rPr lang="en-US" sz="18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cortex-engine · FastAPI · Python · Redis · WebSockets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32960" y="4467075"/>
            <a:ext cx="8846112" cy="3036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 is the intelligent middleware layer between chaos and clarity.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📥  INPUTS — Prometheus · Grafana · Datadog · Zabbix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🧠  CORTEX — Correlates · Clusters · Reasons · Decides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📤  OUTPUTS — Slack · Discord · PagerDuty · Dashboard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Not a filter. Not a deduplicator.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 asks: "Are these alerts symptoms of the same failure?"</a:t>
            </a:r>
          </a:p>
          <a:p>
            <a:pPr algn="just" marL="0" indent="0" lvl="0">
              <a:lnSpc>
                <a:spcPts val="3062"/>
              </a:lnSpc>
            </a:pPr>
            <a:r>
              <a:rPr lang="en-US" sz="218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Result: 500 raw alerts → 3 actionable incidents.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2526224"/>
            <a:ext cx="8063349" cy="95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27"/>
              </a:lnSpc>
            </a:pPr>
            <a:r>
              <a:rPr lang="en-US" b="true" sz="559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Solution: CORTEX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44900" y="1991914"/>
            <a:ext cx="4905526" cy="6169287"/>
            <a:chOff x="0" y="0"/>
            <a:chExt cx="717115" cy="9018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7115" cy="901858"/>
            </a:xfrm>
            <a:custGeom>
              <a:avLst/>
              <a:gdLst/>
              <a:ahLst/>
              <a:cxnLst/>
              <a:rect r="r" b="b" t="t" l="l"/>
              <a:pathLst>
                <a:path h="901858" w="717115">
                  <a:moveTo>
                    <a:pt x="36299" y="0"/>
                  </a:moveTo>
                  <a:lnTo>
                    <a:pt x="680816" y="0"/>
                  </a:lnTo>
                  <a:cubicBezTo>
                    <a:pt x="700863" y="0"/>
                    <a:pt x="717115" y="16251"/>
                    <a:pt x="717115" y="36299"/>
                  </a:cubicBezTo>
                  <a:lnTo>
                    <a:pt x="717115" y="865559"/>
                  </a:lnTo>
                  <a:cubicBezTo>
                    <a:pt x="717115" y="885607"/>
                    <a:pt x="700863" y="901858"/>
                    <a:pt x="680816" y="901858"/>
                  </a:cubicBezTo>
                  <a:lnTo>
                    <a:pt x="36299" y="901858"/>
                  </a:lnTo>
                  <a:cubicBezTo>
                    <a:pt x="16251" y="901858"/>
                    <a:pt x="0" y="885607"/>
                    <a:pt x="0" y="865559"/>
                  </a:cubicBezTo>
                  <a:lnTo>
                    <a:pt x="0" y="36299"/>
                  </a:lnTo>
                  <a:cubicBezTo>
                    <a:pt x="0" y="16251"/>
                    <a:pt x="16251" y="0"/>
                    <a:pt x="36299" y="0"/>
                  </a:cubicBezTo>
                  <a:close/>
                </a:path>
              </a:pathLst>
            </a:custGeom>
            <a:blipFill>
              <a:blip r:embed="rId7"/>
              <a:stretch>
                <a:fillRect l="-619" t="0" r="-619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95079" y="8857710"/>
            <a:ext cx="745887" cy="807810"/>
          </a:xfrm>
          <a:custGeom>
            <a:avLst/>
            <a:gdLst/>
            <a:ahLst/>
            <a:cxnLst/>
            <a:rect r="r" b="b" t="t" l="l"/>
            <a:pathLst>
              <a:path h="807810" w="745887">
                <a:moveTo>
                  <a:pt x="0" y="0"/>
                </a:moveTo>
                <a:lnTo>
                  <a:pt x="745887" y="0"/>
                </a:lnTo>
                <a:lnTo>
                  <a:pt x="745887" y="807809"/>
                </a:lnTo>
                <a:lnTo>
                  <a:pt x="0" y="807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59906" y="825298"/>
            <a:ext cx="2847443" cy="29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7"/>
              </a:lnSpc>
            </a:pPr>
            <a:r>
              <a:rPr lang="en-US" b="true" sz="178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416" y="857077"/>
            <a:ext cx="4627010" cy="21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sz="12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17635"/>
            <a:ext cx="10977253" cy="21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9"/>
              </a:lnSpc>
            </a:pPr>
            <a:r>
              <a:rPr lang="en-US" sz="124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cortex-monitoring.io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361826"/>
            <a:ext cx="16230600" cy="4103098"/>
            <a:chOff x="0" y="0"/>
            <a:chExt cx="3548891" cy="897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891" cy="897160"/>
            </a:xfrm>
            <a:custGeom>
              <a:avLst/>
              <a:gdLst/>
              <a:ahLst/>
              <a:cxnLst/>
              <a:rect r="r" b="b" t="t" l="l"/>
              <a:pathLst>
                <a:path h="897160" w="3548891">
                  <a:moveTo>
                    <a:pt x="9316" y="0"/>
                  </a:moveTo>
                  <a:lnTo>
                    <a:pt x="3539575" y="0"/>
                  </a:lnTo>
                  <a:cubicBezTo>
                    <a:pt x="3544720" y="0"/>
                    <a:pt x="3548891" y="4171"/>
                    <a:pt x="3548891" y="9316"/>
                  </a:cubicBezTo>
                  <a:lnTo>
                    <a:pt x="3548891" y="887844"/>
                  </a:lnTo>
                  <a:cubicBezTo>
                    <a:pt x="3548891" y="892989"/>
                    <a:pt x="3544720" y="897160"/>
                    <a:pt x="3539575" y="897160"/>
                  </a:cubicBezTo>
                  <a:lnTo>
                    <a:pt x="9316" y="897160"/>
                  </a:lnTo>
                  <a:cubicBezTo>
                    <a:pt x="4171" y="897160"/>
                    <a:pt x="0" y="892989"/>
                    <a:pt x="0" y="887844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48891" cy="935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6149" y="4945965"/>
            <a:ext cx="3577440" cy="528650"/>
            <a:chOff x="0" y="0"/>
            <a:chExt cx="840758" cy="1242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61220" y="4972047"/>
            <a:ext cx="3067297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1"/>
              </a:lnSpc>
            </a:pPr>
            <a:r>
              <a:rPr lang="en-US" b="true" sz="212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Semantic Similarity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304325" y="4945965"/>
            <a:ext cx="3577440" cy="528650"/>
            <a:chOff x="0" y="0"/>
            <a:chExt cx="840758" cy="124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59397" y="4972047"/>
            <a:ext cx="3067297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1"/>
              </a:lnSpc>
            </a:pPr>
            <a:r>
              <a:rPr lang="en-US" b="true" sz="212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Time Correlation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192" y="5746255"/>
            <a:ext cx="4455355" cy="192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Reads alert meaning, not just text.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Sentence Transformers encode each alert into a vector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Cosine Similarity measures how alike two alerts are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"DB connection failed" ≈ "database unreachable"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Groups semantically related alerts automatically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5368" y="5746255"/>
            <a:ext cx="4455355" cy="144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Detects bursts that happen together.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Streaming event processing tracks alert timestamps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Alerts within a short window are linked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Sudden spikes = single failure event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Filters noise from unrelated background alerts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04452" y="4945965"/>
            <a:ext cx="3577440" cy="528650"/>
            <a:chOff x="0" y="0"/>
            <a:chExt cx="840758" cy="124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159524" y="4972047"/>
            <a:ext cx="3067297" cy="35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1"/>
              </a:lnSpc>
            </a:pPr>
            <a:r>
              <a:rPr lang="en-US" b="true" sz="212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Service Relationships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5515" y="5746255"/>
            <a:ext cx="4555294" cy="144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Knows which services depend on each other.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OpenTelemetry traces map call chains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Service dependency graphs show upstream/downstream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If payment fails → checkout alert is a symptom</a:t>
            </a:r>
          </a:p>
          <a:p>
            <a:pPr algn="just" marL="0" indent="0" lvl="0">
              <a:lnSpc>
                <a:spcPts val="1938"/>
              </a:lnSpc>
            </a:pPr>
            <a:r>
              <a:rPr lang="en-US" sz="13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Pinpoints root cause, not just symptoms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651" y="2911728"/>
            <a:ext cx="16178649" cy="100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How CORTEX Understands Alerts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591127" y="372714"/>
            <a:ext cx="3016944" cy="2750626"/>
          </a:xfrm>
          <a:custGeom>
            <a:avLst/>
            <a:gdLst/>
            <a:ahLst/>
            <a:cxnLst/>
            <a:rect r="r" b="b" t="t" l="l"/>
            <a:pathLst>
              <a:path h="2750626" w="3016944">
                <a:moveTo>
                  <a:pt x="0" y="0"/>
                </a:moveTo>
                <a:lnTo>
                  <a:pt x="3016944" y="0"/>
                </a:lnTo>
                <a:lnTo>
                  <a:pt x="3016944" y="2750626"/>
                </a:lnTo>
                <a:lnTo>
                  <a:pt x="0" y="2750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19010" y="4495054"/>
            <a:ext cx="11249980" cy="3666147"/>
            <a:chOff x="0" y="0"/>
            <a:chExt cx="2657241" cy="865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7241" cy="865943"/>
            </a:xfrm>
            <a:custGeom>
              <a:avLst/>
              <a:gdLst/>
              <a:ahLst/>
              <a:cxnLst/>
              <a:rect r="r" b="b" t="t" l="l"/>
              <a:pathLst>
                <a:path h="865943" w="2657241">
                  <a:moveTo>
                    <a:pt x="13441" y="0"/>
                  </a:moveTo>
                  <a:lnTo>
                    <a:pt x="2643800" y="0"/>
                  </a:lnTo>
                  <a:cubicBezTo>
                    <a:pt x="2647365" y="0"/>
                    <a:pt x="2650784" y="1416"/>
                    <a:pt x="2653305" y="3937"/>
                  </a:cubicBezTo>
                  <a:cubicBezTo>
                    <a:pt x="2655825" y="6457"/>
                    <a:pt x="2657241" y="9876"/>
                    <a:pt x="2657241" y="13441"/>
                  </a:cubicBezTo>
                  <a:lnTo>
                    <a:pt x="2657241" y="852502"/>
                  </a:lnTo>
                  <a:cubicBezTo>
                    <a:pt x="2657241" y="856067"/>
                    <a:pt x="2655825" y="859485"/>
                    <a:pt x="2653305" y="862006"/>
                  </a:cubicBezTo>
                  <a:cubicBezTo>
                    <a:pt x="2650784" y="864527"/>
                    <a:pt x="2647365" y="865943"/>
                    <a:pt x="2643800" y="865943"/>
                  </a:cubicBezTo>
                  <a:lnTo>
                    <a:pt x="13441" y="865943"/>
                  </a:lnTo>
                  <a:cubicBezTo>
                    <a:pt x="9876" y="865943"/>
                    <a:pt x="6457" y="864527"/>
                    <a:pt x="3937" y="862006"/>
                  </a:cubicBezTo>
                  <a:cubicBezTo>
                    <a:pt x="1416" y="859485"/>
                    <a:pt x="0" y="856067"/>
                    <a:pt x="0" y="852502"/>
                  </a:cubicBezTo>
                  <a:lnTo>
                    <a:pt x="0" y="13441"/>
                  </a:lnTo>
                  <a:cubicBezTo>
                    <a:pt x="0" y="9876"/>
                    <a:pt x="1416" y="6457"/>
                    <a:pt x="3937" y="3937"/>
                  </a:cubicBezTo>
                  <a:cubicBezTo>
                    <a:pt x="6457" y="1416"/>
                    <a:pt x="9876" y="0"/>
                    <a:pt x="134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7241" cy="90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621993" y="1095596"/>
            <a:ext cx="2207346" cy="3741264"/>
          </a:xfrm>
          <a:custGeom>
            <a:avLst/>
            <a:gdLst/>
            <a:ahLst/>
            <a:cxnLst/>
            <a:rect r="r" b="b" t="t" l="l"/>
            <a:pathLst>
              <a:path h="3741264" w="2207346">
                <a:moveTo>
                  <a:pt x="0" y="0"/>
                </a:moveTo>
                <a:lnTo>
                  <a:pt x="2207345" y="0"/>
                </a:lnTo>
                <a:lnTo>
                  <a:pt x="2207345" y="3741263"/>
                </a:lnTo>
                <a:lnTo>
                  <a:pt x="0" y="37412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3416" y="857077"/>
            <a:ext cx="4627010" cy="27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sz="16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017635"/>
            <a:ext cx="10977253" cy="27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sz="16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hello@reallygreatsite.com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5385" y="4929231"/>
            <a:ext cx="9997230" cy="27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INGESTION ] → Prometheus · Grafana · Datadog · Custom Webhooks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NORMALIZATION ] → Schema Mapping · Deduplication · Enrichment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INTELLIGENCE ENGINE ] → Semantic Similarity · Cosine Matching · EWMA Cooldown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INCIDENT ENGINE ] → Causal Graph · Root Cause Scoring · Trace Correlation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NOTIFICATION ] → Slack · Discord · PagerDuty · WebSockets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[ DASHBOARD ] → Real-Time UI · Incident Timeline · Service Graph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Stack: Python · FastAPI · PostgreSQL · Redis · OpenTelemetry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4684" y="1877614"/>
            <a:ext cx="8153353" cy="204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Technical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59906" y="825298"/>
            <a:ext cx="2847443" cy="26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91"/>
              </a:lnSpc>
            </a:pPr>
            <a:r>
              <a:rPr lang="en-US" b="true" sz="156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416" y="847552"/>
            <a:ext cx="4627010" cy="30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08110"/>
            <a:ext cx="10977253" cy="30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Python · Sentence Transformers · OpenTelemetry · EWMA · Service Dependency Graphs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361826"/>
            <a:ext cx="16230600" cy="4103098"/>
            <a:chOff x="0" y="0"/>
            <a:chExt cx="3548891" cy="897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891" cy="897160"/>
            </a:xfrm>
            <a:custGeom>
              <a:avLst/>
              <a:gdLst/>
              <a:ahLst/>
              <a:cxnLst/>
              <a:rect r="r" b="b" t="t" l="l"/>
              <a:pathLst>
                <a:path h="897160" w="3548891">
                  <a:moveTo>
                    <a:pt x="9316" y="0"/>
                  </a:moveTo>
                  <a:lnTo>
                    <a:pt x="3539575" y="0"/>
                  </a:lnTo>
                  <a:cubicBezTo>
                    <a:pt x="3544720" y="0"/>
                    <a:pt x="3548891" y="4171"/>
                    <a:pt x="3548891" y="9316"/>
                  </a:cubicBezTo>
                  <a:lnTo>
                    <a:pt x="3548891" y="887844"/>
                  </a:lnTo>
                  <a:cubicBezTo>
                    <a:pt x="3548891" y="892989"/>
                    <a:pt x="3544720" y="897160"/>
                    <a:pt x="3539575" y="897160"/>
                  </a:cubicBezTo>
                  <a:lnTo>
                    <a:pt x="9316" y="897160"/>
                  </a:lnTo>
                  <a:cubicBezTo>
                    <a:pt x="4171" y="897160"/>
                    <a:pt x="0" y="892989"/>
                    <a:pt x="0" y="887844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48891" cy="935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6149" y="4945965"/>
            <a:ext cx="3577440" cy="528650"/>
            <a:chOff x="0" y="0"/>
            <a:chExt cx="840758" cy="1242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61220" y="4972047"/>
            <a:ext cx="3067297" cy="31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5"/>
              </a:lnSpc>
            </a:pPr>
            <a:r>
              <a:rPr lang="en-US" b="true" sz="18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Semantic Fingerprinting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304325" y="4945965"/>
            <a:ext cx="3577440" cy="528650"/>
            <a:chOff x="0" y="0"/>
            <a:chExt cx="840758" cy="124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59397" y="4972047"/>
            <a:ext cx="3067297" cy="31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5"/>
              </a:lnSpc>
            </a:pPr>
            <a:r>
              <a:rPr lang="en-US" b="true" sz="18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Causal Topology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192" y="5727205"/>
            <a:ext cx="4455355" cy="21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🔍 Converts alert text into vector embeddings using Sentence Transformers. Groups alerts by Cosine Similarity — not just exact text match. Identifies same failure across different services.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5368" y="5727205"/>
            <a:ext cx="4455355" cy="178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🕸️ Builds live service dependency graphs via OpenTelemetry traces. Maps upstream/downstream relationships. Pinpoints root cause node in the failure chain.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04452" y="4945965"/>
            <a:ext cx="3577440" cy="528650"/>
            <a:chOff x="0" y="0"/>
            <a:chExt cx="840758" cy="124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159524" y="4972047"/>
            <a:ext cx="3067297" cy="31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5"/>
              </a:lnSpc>
            </a:pPr>
            <a:r>
              <a:rPr lang="en-US" b="true" sz="186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Adaptive Cooldown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5515" y="5727205"/>
            <a:ext cx="4555294" cy="178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⏱️ Uses EWMA to dynamically adjust alert grouping windows. Learns from historical incident patterns. Prevents alert storms from splitting into false incidents.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651" y="2911728"/>
            <a:ext cx="16178649" cy="100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Smart Intelligence Features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910349" y="596701"/>
            <a:ext cx="2360926" cy="2254418"/>
          </a:xfrm>
          <a:custGeom>
            <a:avLst/>
            <a:gdLst/>
            <a:ahLst/>
            <a:cxnLst/>
            <a:rect r="r" b="b" t="t" l="l"/>
            <a:pathLst>
              <a:path h="2254418" w="2360926">
                <a:moveTo>
                  <a:pt x="0" y="0"/>
                </a:moveTo>
                <a:lnTo>
                  <a:pt x="2360926" y="0"/>
                </a:lnTo>
                <a:lnTo>
                  <a:pt x="2360926" y="2254418"/>
                </a:lnTo>
                <a:lnTo>
                  <a:pt x="0" y="2254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19010" y="4495054"/>
            <a:ext cx="11249980" cy="3666147"/>
            <a:chOff x="0" y="0"/>
            <a:chExt cx="2657241" cy="865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7241" cy="865943"/>
            </a:xfrm>
            <a:custGeom>
              <a:avLst/>
              <a:gdLst/>
              <a:ahLst/>
              <a:cxnLst/>
              <a:rect r="r" b="b" t="t" l="l"/>
              <a:pathLst>
                <a:path h="865943" w="2657241">
                  <a:moveTo>
                    <a:pt x="13441" y="0"/>
                  </a:moveTo>
                  <a:lnTo>
                    <a:pt x="2643800" y="0"/>
                  </a:lnTo>
                  <a:cubicBezTo>
                    <a:pt x="2647365" y="0"/>
                    <a:pt x="2650784" y="1416"/>
                    <a:pt x="2653305" y="3937"/>
                  </a:cubicBezTo>
                  <a:cubicBezTo>
                    <a:pt x="2655825" y="6457"/>
                    <a:pt x="2657241" y="9876"/>
                    <a:pt x="2657241" y="13441"/>
                  </a:cubicBezTo>
                  <a:lnTo>
                    <a:pt x="2657241" y="852502"/>
                  </a:lnTo>
                  <a:cubicBezTo>
                    <a:pt x="2657241" y="856067"/>
                    <a:pt x="2655825" y="859485"/>
                    <a:pt x="2653305" y="862006"/>
                  </a:cubicBezTo>
                  <a:cubicBezTo>
                    <a:pt x="2650784" y="864527"/>
                    <a:pt x="2647365" y="865943"/>
                    <a:pt x="2643800" y="865943"/>
                  </a:cubicBezTo>
                  <a:lnTo>
                    <a:pt x="13441" y="865943"/>
                  </a:lnTo>
                  <a:cubicBezTo>
                    <a:pt x="9876" y="865943"/>
                    <a:pt x="6457" y="864527"/>
                    <a:pt x="3937" y="862006"/>
                  </a:cubicBezTo>
                  <a:cubicBezTo>
                    <a:pt x="1416" y="859485"/>
                    <a:pt x="0" y="856067"/>
                    <a:pt x="0" y="852502"/>
                  </a:cubicBezTo>
                  <a:lnTo>
                    <a:pt x="0" y="13441"/>
                  </a:lnTo>
                  <a:cubicBezTo>
                    <a:pt x="0" y="9876"/>
                    <a:pt x="1416" y="6457"/>
                    <a:pt x="3937" y="3937"/>
                  </a:cubicBezTo>
                  <a:cubicBezTo>
                    <a:pt x="6457" y="1416"/>
                    <a:pt x="9876" y="0"/>
                    <a:pt x="134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7241" cy="90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3416" y="847552"/>
            <a:ext cx="4627010" cy="36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3"/>
              </a:lnSpc>
            </a:pPr>
            <a:r>
              <a:rPr lang="en-US" sz="2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 AIOps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008110"/>
            <a:ext cx="10977253" cy="36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3"/>
              </a:lnSpc>
            </a:pPr>
            <a:r>
              <a:rPr lang="en-US" sz="215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cortex-demo.reallygreatsite.com  |  github.com/cortex-aiops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5385" y="4919706"/>
            <a:ext cx="9997230" cy="267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579"/>
              </a:lnSpc>
            </a:pPr>
            <a:r>
              <a:rPr lang="en-US" sz="2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500 raw alerts ingested → Semantic clustering applied → 3 causal incidents identified → 1 probable root cause surfaced</a:t>
            </a:r>
          </a:p>
          <a:p>
            <a:pPr algn="just" marL="0" indent="0" lvl="0">
              <a:lnSpc>
                <a:spcPts val="3579"/>
              </a:lnSpc>
            </a:pPr>
            <a:r>
              <a:rPr lang="en-US" sz="2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⚡ DB connection pool exhausted → cascading API timeouts → downstream service failures. All 500 alerts: symptoms of ONE failure.</a:t>
            </a:r>
          </a:p>
          <a:p>
            <a:pPr algn="just" marL="0" indent="0" lvl="0">
              <a:lnSpc>
                <a:spcPts val="3579"/>
              </a:lnSpc>
            </a:pPr>
            <a:r>
              <a:rPr lang="en-US" sz="2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Time to root cause: 4 seconds. Without CORTEX: 2+ hours.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7352" y="1174115"/>
            <a:ext cx="6839713" cy="307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Live Demo:</a:t>
            </a:r>
          </a:p>
          <a:p>
            <a:pPr algn="l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CORTEX</a:t>
            </a:r>
          </a:p>
          <a:p>
            <a:pPr algn="l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Transformation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448201" y="608141"/>
            <a:ext cx="3235240" cy="4663249"/>
          </a:xfrm>
          <a:custGeom>
            <a:avLst/>
            <a:gdLst/>
            <a:ahLst/>
            <a:cxnLst/>
            <a:rect r="r" b="b" t="t" l="l"/>
            <a:pathLst>
              <a:path h="4663249" w="3235240">
                <a:moveTo>
                  <a:pt x="0" y="0"/>
                </a:moveTo>
                <a:lnTo>
                  <a:pt x="3235240" y="0"/>
                </a:lnTo>
                <a:lnTo>
                  <a:pt x="3235240" y="4663249"/>
                </a:lnTo>
                <a:lnTo>
                  <a:pt x="0" y="4663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519010" y="4495054"/>
            <a:ext cx="11249980" cy="3666147"/>
            <a:chOff x="0" y="0"/>
            <a:chExt cx="2657241" cy="865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7241" cy="865943"/>
            </a:xfrm>
            <a:custGeom>
              <a:avLst/>
              <a:gdLst/>
              <a:ahLst/>
              <a:cxnLst/>
              <a:rect r="r" b="b" t="t" l="l"/>
              <a:pathLst>
                <a:path h="865943" w="2657241">
                  <a:moveTo>
                    <a:pt x="13441" y="0"/>
                  </a:moveTo>
                  <a:lnTo>
                    <a:pt x="2643800" y="0"/>
                  </a:lnTo>
                  <a:cubicBezTo>
                    <a:pt x="2647365" y="0"/>
                    <a:pt x="2650784" y="1416"/>
                    <a:pt x="2653305" y="3937"/>
                  </a:cubicBezTo>
                  <a:cubicBezTo>
                    <a:pt x="2655825" y="6457"/>
                    <a:pt x="2657241" y="9876"/>
                    <a:pt x="2657241" y="13441"/>
                  </a:cubicBezTo>
                  <a:lnTo>
                    <a:pt x="2657241" y="852502"/>
                  </a:lnTo>
                  <a:cubicBezTo>
                    <a:pt x="2657241" y="856067"/>
                    <a:pt x="2655825" y="859485"/>
                    <a:pt x="2653305" y="862006"/>
                  </a:cubicBezTo>
                  <a:cubicBezTo>
                    <a:pt x="2650784" y="864527"/>
                    <a:pt x="2647365" y="865943"/>
                    <a:pt x="2643800" y="865943"/>
                  </a:cubicBezTo>
                  <a:lnTo>
                    <a:pt x="13441" y="865943"/>
                  </a:lnTo>
                  <a:cubicBezTo>
                    <a:pt x="9876" y="865943"/>
                    <a:pt x="6457" y="864527"/>
                    <a:pt x="3937" y="862006"/>
                  </a:cubicBezTo>
                  <a:cubicBezTo>
                    <a:pt x="1416" y="859485"/>
                    <a:pt x="0" y="856067"/>
                    <a:pt x="0" y="852502"/>
                  </a:cubicBezTo>
                  <a:lnTo>
                    <a:pt x="0" y="13441"/>
                  </a:lnTo>
                  <a:cubicBezTo>
                    <a:pt x="0" y="9876"/>
                    <a:pt x="1416" y="6457"/>
                    <a:pt x="3937" y="3937"/>
                  </a:cubicBezTo>
                  <a:cubicBezTo>
                    <a:pt x="6457" y="1416"/>
                    <a:pt x="9876" y="0"/>
                    <a:pt x="134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57241" cy="904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3416" y="857077"/>
            <a:ext cx="4627010" cy="27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sz="16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Thynk Unlimited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017635"/>
            <a:ext cx="10977253" cy="27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7"/>
              </a:lnSpc>
            </a:pPr>
            <a:r>
              <a:rPr lang="en-US" sz="163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hello@reallygreatsite.com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5385" y="4929231"/>
            <a:ext cx="9997230" cy="27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📊 CORTEX Live Metrics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🔴 Alerts Processed:  10,000+  per hour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🟢 Noise Reduction Ratio:  99.4%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🔵 Incidents Created:  ~3  per 500 alerts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🟣 Root Cause Confidence:  94.7%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⚡ Avg. Detection Time:  &lt; 8 seconds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⏱ Engineer Attention Saved:  ~6 hrs/day</a:t>
            </a:r>
          </a:p>
          <a:p>
            <a:pPr algn="just" marL="0" indent="0" lvl="0">
              <a:lnSpc>
                <a:spcPts val="2717"/>
              </a:lnSpc>
            </a:pPr>
            <a:r>
              <a:rPr lang="en-US" sz="19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500 raw alerts  →  3 smart incidents  →  1 root cause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29277" y="2120783"/>
            <a:ext cx="6839713" cy="204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Dashboard &amp; Impact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998404" y="2589338"/>
            <a:ext cx="4667824" cy="1266147"/>
          </a:xfrm>
          <a:custGeom>
            <a:avLst/>
            <a:gdLst/>
            <a:ahLst/>
            <a:cxnLst/>
            <a:rect r="r" b="b" t="t" l="l"/>
            <a:pathLst>
              <a:path h="1266147" w="4667824">
                <a:moveTo>
                  <a:pt x="0" y="0"/>
                </a:moveTo>
                <a:lnTo>
                  <a:pt x="4667825" y="0"/>
                </a:lnTo>
                <a:lnTo>
                  <a:pt x="4667825" y="1266147"/>
                </a:lnTo>
                <a:lnTo>
                  <a:pt x="0" y="126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80473" y="8876315"/>
            <a:ext cx="526876" cy="763970"/>
          </a:xfrm>
          <a:custGeom>
            <a:avLst/>
            <a:gdLst/>
            <a:ahLst/>
            <a:cxnLst/>
            <a:rect r="r" b="b" t="t" l="l"/>
            <a:pathLst>
              <a:path h="763970" w="526876">
                <a:moveTo>
                  <a:pt x="0" y="0"/>
                </a:moveTo>
                <a:lnTo>
                  <a:pt x="526876" y="0"/>
                </a:lnTo>
                <a:lnTo>
                  <a:pt x="526876" y="763970"/>
                </a:lnTo>
                <a:lnTo>
                  <a:pt x="0" y="763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3416" y="847552"/>
            <a:ext cx="4627010" cy="30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08110"/>
            <a:ext cx="10977253" cy="30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5"/>
              </a:lnSpc>
            </a:pPr>
            <a:r>
              <a:rPr lang="en-US" sz="181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cortex-aiops.io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361826"/>
            <a:ext cx="16230600" cy="4103098"/>
            <a:chOff x="0" y="0"/>
            <a:chExt cx="3548891" cy="897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891" cy="897160"/>
            </a:xfrm>
            <a:custGeom>
              <a:avLst/>
              <a:gdLst/>
              <a:ahLst/>
              <a:cxnLst/>
              <a:rect r="r" b="b" t="t" l="l"/>
              <a:pathLst>
                <a:path h="897160" w="3548891">
                  <a:moveTo>
                    <a:pt x="9316" y="0"/>
                  </a:moveTo>
                  <a:lnTo>
                    <a:pt x="3539575" y="0"/>
                  </a:lnTo>
                  <a:cubicBezTo>
                    <a:pt x="3544720" y="0"/>
                    <a:pt x="3548891" y="4171"/>
                    <a:pt x="3548891" y="9316"/>
                  </a:cubicBezTo>
                  <a:lnTo>
                    <a:pt x="3548891" y="887844"/>
                  </a:lnTo>
                  <a:cubicBezTo>
                    <a:pt x="3548891" y="892989"/>
                    <a:pt x="3544720" y="897160"/>
                    <a:pt x="3539575" y="897160"/>
                  </a:cubicBezTo>
                  <a:lnTo>
                    <a:pt x="9316" y="897160"/>
                  </a:lnTo>
                  <a:cubicBezTo>
                    <a:pt x="4171" y="897160"/>
                    <a:pt x="0" y="892989"/>
                    <a:pt x="0" y="887844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48891" cy="935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06149" y="4945965"/>
            <a:ext cx="3577440" cy="528650"/>
            <a:chOff x="0" y="0"/>
            <a:chExt cx="840758" cy="1242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61220" y="4962522"/>
            <a:ext cx="3067297" cy="43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4"/>
              </a:lnSpc>
            </a:pPr>
            <a:r>
              <a:rPr lang="en-US" b="true" sz="26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✅ MVP Ready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304325" y="4945965"/>
            <a:ext cx="3577440" cy="528650"/>
            <a:chOff x="0" y="0"/>
            <a:chExt cx="840758" cy="124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559397" y="4962522"/>
            <a:ext cx="3067297" cy="43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4"/>
              </a:lnSpc>
            </a:pPr>
            <a:r>
              <a:rPr lang="en-US" b="true" sz="26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⚠️ Challenges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7192" y="5727205"/>
            <a:ext cx="4455355" cy="21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Working prototype built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Python + FastAPI backend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Sentence Transformers live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PostgreSQL + Redis integrated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Slack &amp; Discord webhooks active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Real alerts tested &amp; filtered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5368" y="5727205"/>
            <a:ext cx="4455355" cy="21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Tuning similarity thresholds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Cold start: sparse trace data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Dynamic service graph updates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Balancing EWMA sensitivity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Multi-tenant alert routing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Scaling ingestion pipeline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04452" y="4945965"/>
            <a:ext cx="3577440" cy="528650"/>
            <a:chOff x="0" y="0"/>
            <a:chExt cx="840758" cy="124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0758" cy="124242"/>
            </a:xfrm>
            <a:custGeom>
              <a:avLst/>
              <a:gdLst/>
              <a:ahLst/>
              <a:cxnLst/>
              <a:rect r="r" b="b" t="t" l="l"/>
              <a:pathLst>
                <a:path h="124242" w="840758">
                  <a:moveTo>
                    <a:pt x="42267" y="0"/>
                  </a:moveTo>
                  <a:lnTo>
                    <a:pt x="798490" y="0"/>
                  </a:lnTo>
                  <a:cubicBezTo>
                    <a:pt x="809700" y="0"/>
                    <a:pt x="820451" y="4453"/>
                    <a:pt x="828378" y="12380"/>
                  </a:cubicBezTo>
                  <a:cubicBezTo>
                    <a:pt x="836304" y="20307"/>
                    <a:pt x="840758" y="31057"/>
                    <a:pt x="840758" y="42267"/>
                  </a:cubicBezTo>
                  <a:lnTo>
                    <a:pt x="840758" y="81974"/>
                  </a:lnTo>
                  <a:cubicBezTo>
                    <a:pt x="840758" y="105318"/>
                    <a:pt x="821834" y="124242"/>
                    <a:pt x="798490" y="124242"/>
                  </a:cubicBezTo>
                  <a:lnTo>
                    <a:pt x="42267" y="124242"/>
                  </a:lnTo>
                  <a:cubicBezTo>
                    <a:pt x="18924" y="124242"/>
                    <a:pt x="0" y="105318"/>
                    <a:pt x="0" y="81974"/>
                  </a:cubicBezTo>
                  <a:lnTo>
                    <a:pt x="0" y="42267"/>
                  </a:lnTo>
                  <a:cubicBezTo>
                    <a:pt x="0" y="18924"/>
                    <a:pt x="18924" y="0"/>
                    <a:pt x="422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40758" cy="162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159524" y="4962522"/>
            <a:ext cx="3067297" cy="43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4"/>
              </a:lnSpc>
            </a:pPr>
            <a:r>
              <a:rPr lang="en-US" b="true" sz="262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🚀 Future Vision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5515" y="5727205"/>
            <a:ext cx="4555294" cy="21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Auto-learn service topologies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LLM-powered root cause reports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Predictive incident forecasting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Native OpenTelemetry collector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SaaS deployment model</a:t>
            </a:r>
          </a:p>
          <a:p>
            <a:pPr algn="just" marL="0" indent="0" lvl="0">
              <a:lnSpc>
                <a:spcPts val="2836"/>
              </a:lnSpc>
            </a:pPr>
            <a:r>
              <a:rPr lang="en-US" sz="202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• Chaos mode stress testing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0651" y="2911728"/>
            <a:ext cx="16178649" cy="100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4"/>
              </a:lnSpc>
            </a:pPr>
            <a:r>
              <a:rPr lang="en-US" b="true" sz="586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Feasibility, Challenges &amp; Future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428497" y="-40061"/>
            <a:ext cx="3410829" cy="2666649"/>
          </a:xfrm>
          <a:custGeom>
            <a:avLst/>
            <a:gdLst/>
            <a:ahLst/>
            <a:cxnLst/>
            <a:rect r="r" b="b" t="t" l="l"/>
            <a:pathLst>
              <a:path h="2666649" w="3410829">
                <a:moveTo>
                  <a:pt x="0" y="0"/>
                </a:moveTo>
                <a:lnTo>
                  <a:pt x="3410829" y="0"/>
                </a:lnTo>
                <a:lnTo>
                  <a:pt x="3410829" y="2666648"/>
                </a:lnTo>
                <a:lnTo>
                  <a:pt x="0" y="2666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C9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4245" y="1582363"/>
            <a:ext cx="7851346" cy="6810935"/>
          </a:xfrm>
          <a:custGeom>
            <a:avLst/>
            <a:gdLst/>
            <a:ahLst/>
            <a:cxnLst/>
            <a:rect r="r" b="b" t="t" l="l"/>
            <a:pathLst>
              <a:path h="6810935" w="7851346">
                <a:moveTo>
                  <a:pt x="0" y="0"/>
                </a:moveTo>
                <a:lnTo>
                  <a:pt x="7851345" y="0"/>
                </a:lnTo>
                <a:lnTo>
                  <a:pt x="7851345" y="6810935"/>
                </a:lnTo>
                <a:lnTo>
                  <a:pt x="0" y="6810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4978" y="2874381"/>
            <a:ext cx="2951345" cy="774767"/>
            <a:chOff x="0" y="0"/>
            <a:chExt cx="1548112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30361" y="2531954"/>
            <a:ext cx="4716362" cy="4510021"/>
          </a:xfrm>
          <a:custGeom>
            <a:avLst/>
            <a:gdLst/>
            <a:ahLst/>
            <a:cxnLst/>
            <a:rect r="r" b="b" t="t" l="l"/>
            <a:pathLst>
              <a:path h="4510021" w="4716362">
                <a:moveTo>
                  <a:pt x="0" y="0"/>
                </a:moveTo>
                <a:lnTo>
                  <a:pt x="4716362" y="0"/>
                </a:lnTo>
                <a:lnTo>
                  <a:pt x="4716362" y="4510021"/>
                </a:lnTo>
                <a:lnTo>
                  <a:pt x="0" y="4510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3575" y="4110350"/>
            <a:ext cx="941627" cy="1007822"/>
          </a:xfrm>
          <a:custGeom>
            <a:avLst/>
            <a:gdLst/>
            <a:ahLst/>
            <a:cxnLst/>
            <a:rect r="r" b="b" t="t" l="l"/>
            <a:pathLst>
              <a:path h="1007822" w="941627">
                <a:moveTo>
                  <a:pt x="0" y="0"/>
                </a:moveTo>
                <a:lnTo>
                  <a:pt x="941627" y="0"/>
                </a:lnTo>
                <a:lnTo>
                  <a:pt x="941627" y="1007821"/>
                </a:lnTo>
                <a:lnTo>
                  <a:pt x="0" y="1007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4483" y="5275327"/>
            <a:ext cx="1092500" cy="805698"/>
          </a:xfrm>
          <a:custGeom>
            <a:avLst/>
            <a:gdLst/>
            <a:ahLst/>
            <a:cxnLst/>
            <a:rect r="r" b="b" t="t" l="l"/>
            <a:pathLst>
              <a:path h="805698" w="1092500">
                <a:moveTo>
                  <a:pt x="0" y="0"/>
                </a:moveTo>
                <a:lnTo>
                  <a:pt x="1092499" y="0"/>
                </a:lnTo>
                <a:lnTo>
                  <a:pt x="1092499" y="805698"/>
                </a:lnTo>
                <a:lnTo>
                  <a:pt x="0" y="805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2973" y="6354960"/>
            <a:ext cx="1196025" cy="892686"/>
          </a:xfrm>
          <a:custGeom>
            <a:avLst/>
            <a:gdLst/>
            <a:ahLst/>
            <a:cxnLst/>
            <a:rect r="r" b="b" t="t" l="l"/>
            <a:pathLst>
              <a:path h="892686" w="1196025">
                <a:moveTo>
                  <a:pt x="0" y="0"/>
                </a:moveTo>
                <a:lnTo>
                  <a:pt x="1196026" y="0"/>
                </a:lnTo>
                <a:lnTo>
                  <a:pt x="1196026" y="892686"/>
                </a:lnTo>
                <a:lnTo>
                  <a:pt x="0" y="892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6929" y="3048838"/>
            <a:ext cx="2847443" cy="38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1"/>
              </a:lnSpc>
            </a:pPr>
            <a:r>
              <a:rPr lang="en-US" b="true" sz="227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LET'S CONNECT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93165" y="8989060"/>
            <a:ext cx="7074227" cy="4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7"/>
              </a:lnSpc>
            </a:pPr>
            <a:r>
              <a:rPr lang="en-US" sz="27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 You!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12222" y="4363266"/>
            <a:ext cx="5672982" cy="44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</a:pPr>
            <a:r>
              <a:rPr lang="en-US" sz="262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github.com/cortex-aops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12222" y="5426587"/>
            <a:ext cx="5672982" cy="44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</a:pPr>
            <a:r>
              <a:rPr lang="en-US" sz="262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cortex@aiops.dev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2222" y="6488736"/>
            <a:ext cx="5672982" cy="44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0"/>
              </a:lnSpc>
            </a:pPr>
            <a:r>
              <a:rPr lang="en-US" sz="262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 — Causal Incident Fabric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307955" y="641316"/>
            <a:ext cx="2951345" cy="774767"/>
            <a:chOff x="0" y="0"/>
            <a:chExt cx="154811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8112" cy="406400"/>
            </a:xfrm>
            <a:custGeom>
              <a:avLst/>
              <a:gdLst/>
              <a:ahLst/>
              <a:cxnLst/>
              <a:rect r="r" b="b" t="t" l="l"/>
              <a:pathLst>
                <a:path h="406400" w="1548112">
                  <a:moveTo>
                    <a:pt x="1344912" y="0"/>
                  </a:moveTo>
                  <a:cubicBezTo>
                    <a:pt x="1457136" y="0"/>
                    <a:pt x="1548112" y="90976"/>
                    <a:pt x="1548112" y="203200"/>
                  </a:cubicBezTo>
                  <a:cubicBezTo>
                    <a:pt x="1548112" y="315424"/>
                    <a:pt x="1457136" y="406400"/>
                    <a:pt x="134491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2C92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4811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359906" y="815773"/>
            <a:ext cx="284744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7"/>
              </a:lnSpc>
            </a:pPr>
            <a:r>
              <a:rPr lang="en-US" b="true" sz="2198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PAGE 10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865158"/>
            <a:ext cx="446278" cy="375632"/>
          </a:xfrm>
          <a:custGeom>
            <a:avLst/>
            <a:gdLst/>
            <a:ahLst/>
            <a:cxnLst/>
            <a:rect r="r" b="b" t="t" l="l"/>
            <a:pathLst>
              <a:path h="375632" w="446278">
                <a:moveTo>
                  <a:pt x="0" y="0"/>
                </a:moveTo>
                <a:lnTo>
                  <a:pt x="446278" y="0"/>
                </a:lnTo>
                <a:lnTo>
                  <a:pt x="446278" y="375632"/>
                </a:lnTo>
                <a:lnTo>
                  <a:pt x="0" y="3756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3416" y="847552"/>
            <a:ext cx="4627010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CORTEX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008110"/>
            <a:ext cx="10977253" cy="37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1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Not just deduplication — true causal incident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DAHSwznu1Kw</dc:identifier>
  <dcterms:modified xsi:type="dcterms:W3CDTF">2011-08-01T06:04:30Z</dcterms:modified>
  <cp:revision>1</cp:revision>
  <dc:title>CORTEX: Causal Incident Fabric</dc:title>
</cp:coreProperties>
</file>